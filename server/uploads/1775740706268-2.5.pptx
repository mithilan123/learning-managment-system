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144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4">
            <a:extLst>
              <a:ext uri="{FF2B5EF4-FFF2-40B4-BE49-F238E27FC236}">
                <a16:creationId xmlns:a16="http://schemas.microsoft.com/office/drawing/2014/main" id="{A9C77BE3-922F-498D-89D2-37DD19E03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71251"/>
            <a:ext cx="2430066" cy="660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Slide Number Placeholder 5">
            <a:extLst>
              <a:ext uri="{FF2B5EF4-FFF2-40B4-BE49-F238E27FC236}">
                <a16:creationId xmlns:a16="http://schemas.microsoft.com/office/drawing/2014/main" id="{B6AB406C-57AC-4962-A815-3A8772DC06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57213" indent="-214313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18859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228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5717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3E481144-083E-48B0-8111-829C05786E9C}" type="slidenum">
              <a:rPr lang="en-IN" altLang="en-US" sz="9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</a:t>
            </a:fld>
            <a:endParaRPr lang="en-IN" altLang="en-US" sz="900">
              <a:solidFill>
                <a:srgbClr val="898989"/>
              </a:solidFill>
            </a:endParaRPr>
          </a:p>
        </p:txBody>
      </p:sp>
      <p:sp>
        <p:nvSpPr>
          <p:cNvPr id="3076" name="TextBox 7">
            <a:extLst>
              <a:ext uri="{FF2B5EF4-FFF2-40B4-BE49-F238E27FC236}">
                <a16:creationId xmlns:a16="http://schemas.microsoft.com/office/drawing/2014/main" id="{3913BC5E-B886-4747-A6A5-562201EB7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235" y="1644963"/>
            <a:ext cx="8441531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Course Code: </a:t>
            </a:r>
            <a:r>
              <a:rPr lang="en-IN" alt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U23CS494</a:t>
            </a:r>
            <a:r>
              <a:rPr lang="en-US" alt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br>
              <a:rPr lang="en-US" alt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alt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Course Title: </a:t>
            </a:r>
            <a:r>
              <a:rPr lang="en-US" altLang="en-US" sz="3000" b="1" dirty="0">
                <a:solidFill>
                  <a:srgbClr val="C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FULL STACK DEVELOPMENT</a:t>
            </a:r>
            <a:br>
              <a:rPr lang="en-US" alt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n-US" alt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alt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Faculty Name: </a:t>
            </a:r>
            <a:r>
              <a:rPr lang="en-US" altLang="en-US" sz="3000" b="1" dirty="0" err="1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Mr.S.Sam</a:t>
            </a:r>
            <a:r>
              <a:rPr lang="en-US" alt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Peter</a:t>
            </a:r>
            <a:br>
              <a:rPr lang="en-US" alt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alt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Academic Year: 2025 - 2026 (EVEN Sem)</a:t>
            </a:r>
            <a:endParaRPr lang="en-IN" altLang="en-US" sz="3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9704C8D-31CF-4193-B9C1-0976D6885179}"/>
              </a:ext>
            </a:extLst>
          </p:cNvPr>
          <p:cNvSpPr txBox="1">
            <a:spLocks noChangeArrowheads="1"/>
          </p:cNvSpPr>
          <p:nvPr/>
        </p:nvSpPr>
        <p:spPr>
          <a:xfrm>
            <a:off x="1177676" y="4503424"/>
            <a:ext cx="6788649" cy="709613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33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2: Frontend with React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CORS &amp; Async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CORS (Cross-Origin Resource Sharing)</a:t>
            </a:r>
          </a:p>
          <a:p>
            <a:r>
              <a:t>Managing Asynchronous Data Flow</a:t>
            </a:r>
          </a:p>
          <a:p>
            <a:r>
              <a:t>React &amp; Spring Boot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/>
          <a:lstStyle/>
          <a:p>
            <a:r>
              <a:rPr dirty="0"/>
              <a:t>Agenda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06C572E-E34E-4CB5-BFE9-1C77BDBAA1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199" y="887016"/>
            <a:ext cx="8334261" cy="5575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to CORS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Same-Origin Policy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CORS Works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CORS Headers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CORS in Spring Boot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CORS in React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Preflight Requests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to Asynchronous Data Flow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 Async Mechanisms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Async Data Flow in React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&amp; Loading Handling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CORS?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CORS stands for </a:t>
            </a:r>
            <a:r>
              <a:rPr lang="en-US" b="1" dirty="0"/>
              <a:t>Cross-Origin Resource Sharing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is a </a:t>
            </a:r>
            <a:r>
              <a:rPr lang="en-US" b="1" dirty="0"/>
              <a:t>browser security mechanism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Controls how web applications access resources from </a:t>
            </a:r>
            <a:r>
              <a:rPr lang="en-US" b="1" dirty="0"/>
              <a:t>different origins</a:t>
            </a:r>
            <a:endParaRPr lang="en-US" dirty="0"/>
          </a:p>
          <a:p>
            <a:r>
              <a:rPr lang="en-US" dirty="0"/>
              <a:t>📌 </a:t>
            </a:r>
            <a:r>
              <a:rPr lang="en-US" b="1" dirty="0"/>
              <a:t>Origin = Protocol + Domain + Port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Same-Origin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Browser restricts requests made from one origin to another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Prevents: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theft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Cross-site attacks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Unauthorized API access</a:t>
            </a:r>
          </a:p>
          <a:p>
            <a:r>
              <a:rPr lang="en-US" dirty="0"/>
              <a:t>❌ Frontend → Backend blocked by default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CORS Example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0DBB8C0-D0F9-4BB8-982E-41B047137F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1" y="1632165"/>
            <a:ext cx="7750366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http://localhost:3000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http://localhost:8080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➡ Browser blocks API call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➡ Unless backend allows it using CORS headers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CORS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React App (Browser)</a:t>
            </a:r>
          </a:p>
          <a:p>
            <a:pPr marL="0" indent="0">
              <a:buNone/>
            </a:pPr>
            <a:r>
              <a:rPr lang="en-IN" dirty="0"/>
              <a:t>        |</a:t>
            </a:r>
          </a:p>
          <a:p>
            <a:pPr marL="0" indent="0">
              <a:buNone/>
            </a:pPr>
            <a:r>
              <a:rPr lang="en-IN" dirty="0"/>
              <a:t>        | HTTP Request</a:t>
            </a:r>
          </a:p>
          <a:p>
            <a:pPr marL="0" indent="0">
              <a:buNone/>
            </a:pPr>
            <a:r>
              <a:rPr lang="en-IN" dirty="0"/>
              <a:t>        v</a:t>
            </a:r>
          </a:p>
          <a:p>
            <a:pPr marL="0" indent="0">
              <a:buNone/>
            </a:pPr>
            <a:r>
              <a:rPr lang="en-IN" dirty="0"/>
              <a:t>Spring Boot API</a:t>
            </a:r>
          </a:p>
          <a:p>
            <a:pPr marL="0" indent="0">
              <a:buNone/>
            </a:pPr>
            <a:r>
              <a:rPr lang="en-IN" dirty="0"/>
              <a:t>        |</a:t>
            </a:r>
          </a:p>
          <a:p>
            <a:pPr marL="0" indent="0">
              <a:buNone/>
            </a:pPr>
            <a:r>
              <a:rPr lang="en-IN" dirty="0"/>
              <a:t>        | CORS Headers</a:t>
            </a:r>
          </a:p>
          <a:p>
            <a:pPr marL="0" indent="0">
              <a:buNone/>
            </a:pPr>
            <a:r>
              <a:rPr lang="en-IN" dirty="0"/>
              <a:t>        v</a:t>
            </a:r>
          </a:p>
          <a:p>
            <a:pPr marL="0" indent="0">
              <a:buNone/>
            </a:pPr>
            <a:r>
              <a:rPr lang="en-IN" dirty="0"/>
              <a:t>Browser Validation</a:t>
            </a:r>
          </a:p>
          <a:p>
            <a:pPr marL="0" indent="0">
              <a:buNone/>
            </a:pPr>
            <a:r>
              <a:rPr lang="en-IN" dirty="0"/>
              <a:t>        |</a:t>
            </a:r>
          </a:p>
          <a:p>
            <a:pPr marL="0" indent="0">
              <a:buNone/>
            </a:pPr>
            <a:r>
              <a:rPr lang="en-IN" dirty="0"/>
              <a:t>   Allowed / Blocked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CORS Headers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451BA2-5714-4C67-B6E7-5C07F150FA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057033"/>
              </p:ext>
            </p:extLst>
          </p:nvPr>
        </p:nvGraphicFramePr>
        <p:xfrm>
          <a:off x="457199" y="1869128"/>
          <a:ext cx="8422396" cy="2651760"/>
        </p:xfrm>
        <a:graphic>
          <a:graphicData uri="http://schemas.openxmlformats.org/drawingml/2006/table">
            <a:tbl>
              <a:tblPr/>
              <a:tblGrid>
                <a:gridCol w="4211198">
                  <a:extLst>
                    <a:ext uri="{9D8B030D-6E8A-4147-A177-3AD203B41FA5}">
                      <a16:colId xmlns:a16="http://schemas.microsoft.com/office/drawing/2014/main" val="708608242"/>
                    </a:ext>
                  </a:extLst>
                </a:gridCol>
                <a:gridCol w="4211198">
                  <a:extLst>
                    <a:ext uri="{9D8B030D-6E8A-4147-A177-3AD203B41FA5}">
                      <a16:colId xmlns:a16="http://schemas.microsoft.com/office/drawing/2014/main" val="20658895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Header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7676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Access-Control-Allow-Origin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Allowed domains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31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Access-Control-Allow-Methods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Allowed HTTP methods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691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Access-Control-Allow-Headers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Allowed headers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701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Access-Control-Allow-Credentials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Allow cookies/auth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87346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Boot @CrossOrigin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@CrossOrigin(origins = "http://localhost:3000")</a:t>
            </a:r>
          </a:p>
          <a:p>
            <a:pPr marL="0" indent="0">
              <a:buNone/>
            </a:pPr>
            <a:r>
              <a:rPr lang="en-IN" dirty="0"/>
              <a:t>@RestController</a:t>
            </a:r>
          </a:p>
          <a:p>
            <a:pPr marL="0" indent="0">
              <a:buNone/>
            </a:pPr>
            <a:r>
              <a:rPr lang="en-IN" dirty="0"/>
              <a:t>@RequestMapping("/api")</a:t>
            </a:r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UserController</a:t>
            </a:r>
            <a:r>
              <a:rPr lang="en-IN" dirty="0"/>
              <a:t>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@GetMapping("/users")</a:t>
            </a:r>
          </a:p>
          <a:p>
            <a:pPr marL="0" indent="0">
              <a:buNone/>
            </a:pPr>
            <a:r>
              <a:rPr lang="en-IN" dirty="0"/>
              <a:t>    public List&lt;String&gt; </a:t>
            </a:r>
            <a:r>
              <a:rPr lang="en-IN" dirty="0" err="1"/>
              <a:t>getUsers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  return </a:t>
            </a:r>
            <a:r>
              <a:rPr lang="en-IN" dirty="0" err="1"/>
              <a:t>List.of</a:t>
            </a:r>
            <a:r>
              <a:rPr lang="en-IN" dirty="0"/>
              <a:t>("Sam", "Alex", "John");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CORS Config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@Configuration</a:t>
            </a:r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CorsConfig</a:t>
            </a:r>
            <a:r>
              <a:rPr lang="en-IN" dirty="0"/>
              <a:t> implements </a:t>
            </a:r>
            <a:r>
              <a:rPr lang="en-IN" dirty="0" err="1"/>
              <a:t>WebMvcConfigurer</a:t>
            </a:r>
            <a:r>
              <a:rPr lang="en-IN" dirty="0"/>
              <a:t>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@Override</a:t>
            </a:r>
          </a:p>
          <a:p>
            <a:pPr marL="0" indent="0">
              <a:buNone/>
            </a:pPr>
            <a:r>
              <a:rPr lang="en-IN" dirty="0"/>
              <a:t>    public void </a:t>
            </a:r>
            <a:r>
              <a:rPr lang="en-IN" dirty="0" err="1"/>
              <a:t>addCorsMappings</a:t>
            </a:r>
            <a:r>
              <a:rPr lang="en-IN" dirty="0"/>
              <a:t>(</a:t>
            </a:r>
            <a:r>
              <a:rPr lang="en-IN" dirty="0" err="1"/>
              <a:t>CorsRegistry</a:t>
            </a:r>
            <a:r>
              <a:rPr lang="en-IN" dirty="0"/>
              <a:t> registry)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registry.addMapping</a:t>
            </a:r>
            <a:r>
              <a:rPr lang="en-IN" dirty="0"/>
              <a:t>("/</a:t>
            </a:r>
            <a:r>
              <a:rPr lang="en-IN" dirty="0" err="1"/>
              <a:t>api</a:t>
            </a:r>
            <a:r>
              <a:rPr lang="en-IN" dirty="0"/>
              <a:t>/**")</a:t>
            </a:r>
          </a:p>
          <a:p>
            <a:pPr marL="0" indent="0">
              <a:buNone/>
            </a:pPr>
            <a:r>
              <a:rPr lang="en-IN" dirty="0"/>
              <a:t>                .</a:t>
            </a:r>
            <a:r>
              <a:rPr lang="en-IN" dirty="0" err="1"/>
              <a:t>allowedOrigins</a:t>
            </a:r>
            <a:r>
              <a:rPr lang="en-IN" dirty="0"/>
              <a:t>("http://localhost:3000")</a:t>
            </a:r>
          </a:p>
          <a:p>
            <a:pPr marL="0" indent="0">
              <a:buNone/>
            </a:pPr>
            <a:r>
              <a:rPr lang="en-IN" dirty="0"/>
              <a:t>                .</a:t>
            </a:r>
            <a:r>
              <a:rPr lang="en-IN" dirty="0" err="1"/>
              <a:t>allowedMethods</a:t>
            </a:r>
            <a:r>
              <a:rPr lang="en-IN" dirty="0"/>
              <a:t>("GET", "POST", "PUT", "DELETE")</a:t>
            </a:r>
          </a:p>
          <a:p>
            <a:pPr marL="0" indent="0">
              <a:buNone/>
            </a:pPr>
            <a:r>
              <a:rPr lang="en-IN" dirty="0"/>
              <a:t>                .</a:t>
            </a:r>
            <a:r>
              <a:rPr lang="en-IN" dirty="0" err="1"/>
              <a:t>allowedHeaders</a:t>
            </a:r>
            <a:r>
              <a:rPr lang="en-IN" dirty="0"/>
              <a:t>("*")</a:t>
            </a:r>
          </a:p>
          <a:p>
            <a:pPr marL="0" indent="0">
              <a:buNone/>
            </a:pPr>
            <a:r>
              <a:rPr lang="en-IN" dirty="0"/>
              <a:t>                .</a:t>
            </a:r>
            <a:r>
              <a:rPr lang="en-IN" dirty="0" err="1"/>
              <a:t>allowCredentials</a:t>
            </a:r>
            <a:r>
              <a:rPr lang="en-IN" dirty="0"/>
              <a:t>(true);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CORS in React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A256446-89B5-4EE6-AC37-B920CDAE2E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4824" y="2042766"/>
            <a:ext cx="641072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cannot fix CORS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CORS is handled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on server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 enforces the policy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Proxy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package.json</a:t>
            </a:r>
            <a:endParaRPr dirty="0"/>
          </a:p>
          <a:p>
            <a:r>
              <a:rPr dirty="0"/>
              <a:t>"proxy": </a:t>
            </a:r>
            <a:r>
              <a:rPr dirty="0">
                <a:hlinkClick r:id="rId2"/>
              </a:rPr>
              <a:t>http://localhost:8080</a:t>
            </a:r>
            <a:endParaRPr lang="en-IN" dirty="0"/>
          </a:p>
          <a:p>
            <a:r>
              <a:rPr lang="en-US" dirty="0"/>
              <a:t>Avoids CORS during development</a:t>
            </a:r>
            <a:br>
              <a:rPr lang="en-US" dirty="0"/>
            </a:br>
            <a:r>
              <a:rPr lang="en-US" dirty="0"/>
              <a:t>✔ Only for local testing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Preflight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Browser sends </a:t>
            </a:r>
            <a:r>
              <a:rPr lang="en-US" b="1" dirty="0"/>
              <a:t>OPTIONS request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Happens when: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PUT / DELETE used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Custom headers exist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Content-Type is JSON</a:t>
            </a:r>
          </a:p>
          <a:p>
            <a:r>
              <a:rPr lang="en-US" dirty="0"/>
              <a:t>➡ Server must respond correctly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CORS Errors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897F179-AFCD-4105-9BEA-D07A44899E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4359" y="1673438"/>
            <a:ext cx="769528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Access-Control-Allow-Origin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credentials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not handling OPTIONS request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Async Data 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48A57C-6DC5-42C0-8863-AB6D32478B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75841" y="1773978"/>
            <a:ext cx="7111388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Non-blocking execution of tasks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 remains responsive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calls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uploads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requests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Async?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CE75A8-E14B-4964-AAD4-97D5B31A46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6352" y="1988366"/>
            <a:ext cx="6340207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 freezes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Race conditions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Bad user experience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Async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Callbacks</a:t>
            </a:r>
          </a:p>
          <a:p>
            <a:r>
              <a:t>Promises</a:t>
            </a:r>
          </a:p>
          <a:p>
            <a:r>
              <a:t>Async/Await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Callbacks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 to manage</a:t>
            </a:r>
          </a:p>
          <a:p>
            <a:r>
              <a:t>Callback hell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fetch("/</a:t>
            </a:r>
            <a:r>
              <a:rPr lang="en-IN" dirty="0" err="1"/>
              <a:t>api</a:t>
            </a:r>
            <a:r>
              <a:rPr lang="en-IN" dirty="0"/>
              <a:t>/users")</a:t>
            </a:r>
          </a:p>
          <a:p>
            <a:pPr marL="0" indent="0">
              <a:buNone/>
            </a:pPr>
            <a:r>
              <a:rPr lang="en-IN" dirty="0"/>
              <a:t>  .then(response =&gt; </a:t>
            </a:r>
            <a:r>
              <a:rPr lang="en-IN" dirty="0" err="1"/>
              <a:t>response.json</a:t>
            </a:r>
            <a:r>
              <a:rPr lang="en-IN" dirty="0"/>
              <a:t>())</a:t>
            </a:r>
          </a:p>
          <a:p>
            <a:pPr marL="0" indent="0">
              <a:buNone/>
            </a:pPr>
            <a:r>
              <a:rPr lang="en-IN" dirty="0"/>
              <a:t>  .then(data =&gt; console.log(data))</a:t>
            </a:r>
          </a:p>
          <a:p>
            <a:pPr marL="0" indent="0">
              <a:buNone/>
            </a:pPr>
            <a:r>
              <a:rPr lang="en-IN" dirty="0"/>
              <a:t>  .catch(error =&gt; </a:t>
            </a:r>
            <a:r>
              <a:rPr lang="en-IN" dirty="0" err="1"/>
              <a:t>console.error</a:t>
            </a:r>
            <a:r>
              <a:rPr lang="en-IN" dirty="0"/>
              <a:t>(error));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Async/Await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async function </a:t>
            </a:r>
            <a:r>
              <a:rPr lang="en-IN" dirty="0" err="1"/>
              <a:t>loadUsers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try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response = await fetch("/</a:t>
            </a:r>
            <a:r>
              <a:rPr lang="en-IN" dirty="0" err="1"/>
              <a:t>api</a:t>
            </a:r>
            <a:r>
              <a:rPr lang="en-IN" dirty="0"/>
              <a:t>/users");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data = await </a:t>
            </a:r>
            <a:r>
              <a:rPr lang="en-IN" dirty="0" err="1"/>
              <a:t>response.json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console.log(data);</a:t>
            </a:r>
          </a:p>
          <a:p>
            <a:pPr marL="0" indent="0">
              <a:buNone/>
            </a:pPr>
            <a:r>
              <a:rPr lang="en-IN" dirty="0"/>
              <a:t>  } catch (error)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console.error</a:t>
            </a:r>
            <a:r>
              <a:rPr lang="en-IN" dirty="0"/>
              <a:t>(error);</a:t>
            </a:r>
          </a:p>
          <a:p>
            <a:pPr marL="0" indent="0">
              <a:buNone/>
            </a:pPr>
            <a:r>
              <a:rPr lang="en-IN" dirty="0"/>
              <a:t>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Async in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 err="1"/>
              <a:t>useEffect</a:t>
            </a:r>
            <a:r>
              <a:rPr lang="en-IN" dirty="0"/>
              <a:t>(() =&gt; {</a:t>
            </a:r>
          </a:p>
          <a:p>
            <a:pPr marL="0" indent="0">
              <a:buNone/>
            </a:pPr>
            <a:r>
              <a:rPr lang="en-IN" dirty="0"/>
              <a:t>  async function </a:t>
            </a:r>
            <a:r>
              <a:rPr lang="en-IN" dirty="0" err="1"/>
              <a:t>fetchUsers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res = await fetch("/</a:t>
            </a:r>
            <a:r>
              <a:rPr lang="en-IN" dirty="0" err="1"/>
              <a:t>api</a:t>
            </a:r>
            <a:r>
              <a:rPr lang="en-IN" dirty="0"/>
              <a:t>/users");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const</a:t>
            </a:r>
            <a:r>
              <a:rPr lang="en-IN" dirty="0"/>
              <a:t> data = await </a:t>
            </a:r>
            <a:r>
              <a:rPr lang="en-IN" dirty="0" err="1"/>
              <a:t>res.json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setUsers</a:t>
            </a:r>
            <a:r>
              <a:rPr lang="en-IN" dirty="0"/>
              <a:t>(data);</a:t>
            </a:r>
          </a:p>
          <a:p>
            <a:pPr marL="0" indent="0">
              <a:buNone/>
            </a:pPr>
            <a:r>
              <a:rPr lang="en-IN" dirty="0"/>
              <a:t>  }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fetchUsers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}, []);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Loading &amp; Error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[loading, </a:t>
            </a:r>
            <a:r>
              <a:rPr lang="en-IN" dirty="0" err="1"/>
              <a:t>setLoading</a:t>
            </a:r>
            <a:r>
              <a:rPr lang="en-IN" dirty="0"/>
              <a:t>] = </a:t>
            </a:r>
            <a:r>
              <a:rPr lang="en-IN" dirty="0" err="1"/>
              <a:t>useState</a:t>
            </a:r>
            <a:r>
              <a:rPr lang="en-IN" dirty="0"/>
              <a:t>(true);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[error, </a:t>
            </a:r>
            <a:r>
              <a:rPr lang="en-IN" dirty="0" err="1"/>
              <a:t>setError</a:t>
            </a:r>
            <a:r>
              <a:rPr lang="en-IN" dirty="0"/>
              <a:t>] = </a:t>
            </a:r>
            <a:r>
              <a:rPr lang="en-IN" dirty="0" err="1"/>
              <a:t>useState</a:t>
            </a:r>
            <a:r>
              <a:rPr lang="en-IN" dirty="0"/>
              <a:t>(null);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useEffect</a:t>
            </a:r>
            <a:r>
              <a:rPr lang="en-IN" dirty="0"/>
              <a:t>(() =&gt; {</a:t>
            </a:r>
          </a:p>
          <a:p>
            <a:pPr marL="0" indent="0">
              <a:buNone/>
            </a:pPr>
            <a:r>
              <a:rPr lang="en-IN" dirty="0"/>
              <a:t>  fetch("/</a:t>
            </a:r>
            <a:r>
              <a:rPr lang="en-IN" dirty="0" err="1"/>
              <a:t>api</a:t>
            </a:r>
            <a:r>
              <a:rPr lang="en-IN" dirty="0"/>
              <a:t>/users")</a:t>
            </a:r>
          </a:p>
          <a:p>
            <a:pPr marL="0" indent="0">
              <a:buNone/>
            </a:pPr>
            <a:r>
              <a:rPr lang="en-IN" dirty="0"/>
              <a:t>    .then(res =&gt; </a:t>
            </a:r>
            <a:r>
              <a:rPr lang="en-IN" dirty="0" err="1"/>
              <a:t>res.json</a:t>
            </a:r>
            <a:r>
              <a:rPr lang="en-IN" dirty="0"/>
              <a:t>())</a:t>
            </a:r>
          </a:p>
          <a:p>
            <a:pPr marL="0" indent="0">
              <a:buNone/>
            </a:pPr>
            <a:r>
              <a:rPr lang="en-IN" dirty="0"/>
              <a:t>    .then(data =&gt; </a:t>
            </a:r>
            <a:r>
              <a:rPr lang="en-IN" dirty="0" err="1"/>
              <a:t>setUsers</a:t>
            </a:r>
            <a:r>
              <a:rPr lang="en-IN" dirty="0"/>
              <a:t>(data))</a:t>
            </a:r>
          </a:p>
          <a:p>
            <a:pPr marL="0" indent="0">
              <a:buNone/>
            </a:pPr>
            <a:r>
              <a:rPr lang="en-IN" dirty="0"/>
              <a:t>    .catch(err =&gt; </a:t>
            </a:r>
            <a:r>
              <a:rPr lang="en-IN" dirty="0" err="1"/>
              <a:t>setError</a:t>
            </a:r>
            <a:r>
              <a:rPr lang="en-IN" dirty="0"/>
              <a:t>(err))</a:t>
            </a:r>
          </a:p>
          <a:p>
            <a:pPr marL="0" indent="0">
              <a:buNone/>
            </a:pPr>
            <a:r>
              <a:rPr lang="en-IN" dirty="0"/>
              <a:t>    .finally(() =&gt; </a:t>
            </a:r>
            <a:r>
              <a:rPr lang="en-IN" dirty="0" err="1"/>
              <a:t>setLoading</a:t>
            </a:r>
            <a:r>
              <a:rPr lang="en-IN" dirty="0"/>
              <a:t>(false));</a:t>
            </a:r>
          </a:p>
          <a:p>
            <a:pPr marL="0" indent="0">
              <a:buNone/>
            </a:pPr>
            <a:r>
              <a:rPr lang="en-IN" dirty="0"/>
              <a:t>}, []);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Async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User Click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API Request (Async)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Promise / Await</a:t>
            </a:r>
          </a:p>
          <a:p>
            <a:pPr marL="0" indent="0">
              <a:buNone/>
            </a:pPr>
            <a:r>
              <a:rPr lang="en-IN" dirty="0"/>
              <a:t>   ↓</a:t>
            </a:r>
          </a:p>
          <a:p>
            <a:pPr marL="0" indent="0">
              <a:buNone/>
            </a:pPr>
            <a:r>
              <a:rPr lang="en-IN" dirty="0"/>
              <a:t>Success → Update UI</a:t>
            </a:r>
          </a:p>
          <a:p>
            <a:pPr marL="0" indent="0">
              <a:buNone/>
            </a:pPr>
            <a:r>
              <a:rPr lang="en-IN" dirty="0"/>
              <a:t>Failure → Show Error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Debounce</a:t>
            </a:r>
          </a:p>
          <a:p>
            <a:r>
              <a:t>Throttle</a:t>
            </a:r>
          </a:p>
          <a:p>
            <a:r>
              <a:t>Caching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CORS + Async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1B37F8-80C4-4013-A87F-9EDAA4C66E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4824" y="1847779"/>
            <a:ext cx="579357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triggers async API call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 checks CORS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validates origin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returned asynchronously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 updates dynamically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CORS:</a:t>
            </a:r>
          </a:p>
          <a:p>
            <a:pPr marL="0" indent="0" algn="just">
              <a:buNone/>
            </a:pPr>
            <a:r>
              <a:rPr lang="en-IN" dirty="0"/>
              <a:t>CORS is a browser security mechanism that allows servers to control cross-origin access using HTTP headers.</a:t>
            </a:r>
          </a:p>
          <a:p>
            <a:pPr algn="just"/>
            <a:r>
              <a:rPr lang="en-IN" dirty="0"/>
              <a:t>Asynchronous Data Flow:</a:t>
            </a:r>
          </a:p>
          <a:p>
            <a:pPr marL="0" indent="0" algn="just">
              <a:buNone/>
            </a:pPr>
            <a:r>
              <a:rPr lang="en-IN" dirty="0"/>
              <a:t>Asynchronous data flow enables non-blocking operations, ensuring responsive user interfaces.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03D2AC-57CC-479F-B3C6-1A02696717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4325" y="1939764"/>
            <a:ext cx="759534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CORS is handled at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Async data flow keeps UI responsive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 + Spring Boot is a common stack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Proper handling improves security &amp; UX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827</Words>
  <Application>Microsoft Office PowerPoint</Application>
  <PresentationFormat>On-screen Show (4:3)</PresentationFormat>
  <Paragraphs>187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Arial Unicode MS</vt:lpstr>
      <vt:lpstr>Calibri</vt:lpstr>
      <vt:lpstr>Times New Roman</vt:lpstr>
      <vt:lpstr>Office Theme</vt:lpstr>
      <vt:lpstr>PowerPoint Presentation</vt:lpstr>
      <vt:lpstr>Handling CORS &amp; Async Data Flow</vt:lpstr>
      <vt:lpstr>Agenda</vt:lpstr>
      <vt:lpstr>What is CORS?</vt:lpstr>
      <vt:lpstr>Same-Origin Policy</vt:lpstr>
      <vt:lpstr>CORS Example</vt:lpstr>
      <vt:lpstr>How CORS Works</vt:lpstr>
      <vt:lpstr>CORS Headers</vt:lpstr>
      <vt:lpstr>Spring Boot @CrossOrigin</vt:lpstr>
      <vt:lpstr>Global CORS Config</vt:lpstr>
      <vt:lpstr>CORS in React</vt:lpstr>
      <vt:lpstr>Proxy Setup</vt:lpstr>
      <vt:lpstr>Preflight Request</vt:lpstr>
      <vt:lpstr>Common CORS Errors</vt:lpstr>
      <vt:lpstr>Async Data Flow</vt:lpstr>
      <vt:lpstr>Why Async?</vt:lpstr>
      <vt:lpstr>Async Models</vt:lpstr>
      <vt:lpstr>Callbacks</vt:lpstr>
      <vt:lpstr>Promises</vt:lpstr>
      <vt:lpstr>Async/Await</vt:lpstr>
      <vt:lpstr>Async in React</vt:lpstr>
      <vt:lpstr>Loading &amp; Error State</vt:lpstr>
      <vt:lpstr>Async Flow Diagram</vt:lpstr>
      <vt:lpstr>Advanced Techniques</vt:lpstr>
      <vt:lpstr>CORS + Async</vt:lpstr>
      <vt:lpstr>Exam Definitions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Sam PETER S</cp:lastModifiedBy>
  <cp:revision>4</cp:revision>
  <dcterms:created xsi:type="dcterms:W3CDTF">2013-01-27T09:14:16Z</dcterms:created>
  <dcterms:modified xsi:type="dcterms:W3CDTF">2026-02-18T19:46:23Z</dcterms:modified>
  <cp:category/>
</cp:coreProperties>
</file>